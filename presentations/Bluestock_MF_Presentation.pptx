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Merriweather Sans Bold" charset="1" panose="00000800000000000000"/>
      <p:regular r:id="rId18"/>
    </p:embeddedFont>
    <p:embeddedFont>
      <p:font typeface="Monda" charset="1" panose="02000503000000000000"/>
      <p:regular r:id="rId19"/>
    </p:embeddedFont>
    <p:embeddedFont>
      <p:font typeface="Merriweather Sans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10514" y="2824611"/>
            <a:ext cx="14595024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50E9B"/>
                </a:solidFill>
                <a:latin typeface="Merriweather Sans Bold"/>
                <a:ea typeface="Merriweather Sans Bold"/>
                <a:cs typeface="Merriweather Sans Bold"/>
                <a:sym typeface="Merriweather Sans Bold"/>
              </a:rPr>
              <a:t>BLUESTOCK MUTUAL FUND ANALYTICS CAPSTONE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62982" y="5493062"/>
            <a:ext cx="10162036" cy="2343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56"/>
              </a:lnSpc>
            </a:pPr>
            <a:r>
              <a:rPr lang="en-US" sz="446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By Niyukti D Jain</a:t>
            </a:r>
          </a:p>
          <a:p>
            <a:pPr algn="ctr">
              <a:lnSpc>
                <a:spcPts val="6256"/>
              </a:lnSpc>
            </a:pPr>
            <a:r>
              <a:rPr lang="en-US" sz="446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Bluestock Fintech Internship</a:t>
            </a:r>
          </a:p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sz="4468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52435" y="721221"/>
            <a:ext cx="11228195" cy="1020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36"/>
              </a:lnSpc>
            </a:pPr>
            <a:r>
              <a:rPr lang="en-US" sz="5954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PROBLEM STATEMENT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54401" y="2205424"/>
            <a:ext cx="13449428" cy="1662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2"/>
              </a:lnSpc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• Mutual fund data is spread across multiple sources.</a:t>
            </a:r>
          </a:p>
          <a:p>
            <a:pPr algn="l">
              <a:lnSpc>
                <a:spcPts val="4432"/>
              </a:lnSpc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• Investors need better insights.</a:t>
            </a:r>
          </a:p>
          <a:p>
            <a:pPr algn="just">
              <a:lnSpc>
                <a:spcPts val="4432"/>
              </a:lnSpc>
              <a:spcBef>
                <a:spcPct val="0"/>
              </a:spcBef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• Risk-adjusted evaluation is often ignored.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54401" y="4576185"/>
            <a:ext cx="11228195" cy="1020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36"/>
              </a:lnSpc>
            </a:pPr>
            <a:r>
              <a:rPr lang="en-US" sz="5954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OBJECTIVES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54401" y="5933316"/>
            <a:ext cx="6301722" cy="2786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2"/>
              </a:lnSpc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• Build ETL Pipeline</a:t>
            </a:r>
          </a:p>
          <a:p>
            <a:pPr algn="l">
              <a:lnSpc>
                <a:spcPts val="4432"/>
              </a:lnSpc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• Perform EDA</a:t>
            </a:r>
          </a:p>
          <a:p>
            <a:pPr algn="l">
              <a:lnSpc>
                <a:spcPts val="4432"/>
              </a:lnSpc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• Compute Risk Metrics</a:t>
            </a:r>
          </a:p>
          <a:p>
            <a:pPr algn="l">
              <a:lnSpc>
                <a:spcPts val="4432"/>
              </a:lnSpc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• Build Dashboard</a:t>
            </a:r>
          </a:p>
          <a:p>
            <a:pPr algn="just">
              <a:lnSpc>
                <a:spcPts val="4432"/>
              </a:lnSpc>
              <a:spcBef>
                <a:spcPct val="0"/>
              </a:spcBef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• Generate Insights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51126" y="765989"/>
            <a:ext cx="11228195" cy="987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56"/>
              </a:lnSpc>
            </a:pPr>
            <a:r>
              <a:rPr lang="en-US" sz="5754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DATA SOURCES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42026" y="2504761"/>
            <a:ext cx="11408264" cy="510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sz="35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Datas provided by the organization .</a:t>
            </a:r>
          </a:p>
          <a:p>
            <a:pPr algn="l">
              <a:lnSpc>
                <a:spcPts val="4432"/>
              </a:lnSpc>
            </a:pPr>
          </a:p>
          <a:p>
            <a:pPr algn="l">
              <a:lnSpc>
                <a:spcPts val="4432"/>
              </a:lnSpc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• Fund Master</a:t>
            </a:r>
          </a:p>
          <a:p>
            <a:pPr algn="l">
              <a:lnSpc>
                <a:spcPts val="4432"/>
              </a:lnSpc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• NAV History</a:t>
            </a:r>
          </a:p>
          <a:p>
            <a:pPr algn="l">
              <a:lnSpc>
                <a:spcPts val="4432"/>
              </a:lnSpc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• AUM Data</a:t>
            </a:r>
          </a:p>
          <a:p>
            <a:pPr algn="l">
              <a:lnSpc>
                <a:spcPts val="4432"/>
              </a:lnSpc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• SIP Inflows</a:t>
            </a:r>
          </a:p>
          <a:p>
            <a:pPr algn="l">
              <a:lnSpc>
                <a:spcPts val="4432"/>
              </a:lnSpc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• Investor Transactions</a:t>
            </a:r>
          </a:p>
          <a:p>
            <a:pPr algn="l">
              <a:lnSpc>
                <a:spcPts val="4432"/>
              </a:lnSpc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• Portfolio Holdings</a:t>
            </a:r>
          </a:p>
          <a:p>
            <a:pPr algn="l">
              <a:lnSpc>
                <a:spcPts val="4432"/>
              </a:lnSpc>
            </a:pPr>
            <a:r>
              <a:rPr lang="en-US" sz="3165">
                <a:solidFill>
                  <a:srgbClr val="050E9B"/>
                </a:solidFill>
                <a:latin typeface="Monda"/>
                <a:ea typeface="Monda"/>
                <a:cs typeface="Monda"/>
                <a:sym typeface="Monda"/>
              </a:rPr>
              <a:t>• Benchmark Indices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17780" y="914400"/>
            <a:ext cx="11228195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BASIC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831647"/>
            <a:ext cx="7559594" cy="3746952"/>
          </a:xfrm>
          <a:custGeom>
            <a:avLst/>
            <a:gdLst/>
            <a:ahLst/>
            <a:cxnLst/>
            <a:rect r="r" b="b" t="t" l="l"/>
            <a:pathLst>
              <a:path h="3746952" w="7559594">
                <a:moveTo>
                  <a:pt x="0" y="0"/>
                </a:moveTo>
                <a:lnTo>
                  <a:pt x="7559594" y="0"/>
                </a:lnTo>
                <a:lnTo>
                  <a:pt x="7559594" y="3746952"/>
                </a:lnTo>
                <a:lnTo>
                  <a:pt x="0" y="37469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4074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754518" y="2041995"/>
            <a:ext cx="7826482" cy="3326255"/>
          </a:xfrm>
          <a:custGeom>
            <a:avLst/>
            <a:gdLst/>
            <a:ahLst/>
            <a:cxnLst/>
            <a:rect r="r" b="b" t="t" l="l"/>
            <a:pathLst>
              <a:path h="3326255" w="7826482">
                <a:moveTo>
                  <a:pt x="0" y="0"/>
                </a:moveTo>
                <a:lnTo>
                  <a:pt x="7826482" y="0"/>
                </a:lnTo>
                <a:lnTo>
                  <a:pt x="7826482" y="3326255"/>
                </a:lnTo>
                <a:lnTo>
                  <a:pt x="0" y="33262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849369" y="5578599"/>
            <a:ext cx="4636403" cy="4529913"/>
          </a:xfrm>
          <a:custGeom>
            <a:avLst/>
            <a:gdLst/>
            <a:ahLst/>
            <a:cxnLst/>
            <a:rect r="r" b="b" t="t" l="l"/>
            <a:pathLst>
              <a:path h="4529913" w="4636403">
                <a:moveTo>
                  <a:pt x="0" y="0"/>
                </a:moveTo>
                <a:lnTo>
                  <a:pt x="4636404" y="0"/>
                </a:lnTo>
                <a:lnTo>
                  <a:pt x="4636404" y="4529913"/>
                </a:lnTo>
                <a:lnTo>
                  <a:pt x="0" y="45299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781048" y="5921499"/>
            <a:ext cx="8342531" cy="3701998"/>
          </a:xfrm>
          <a:custGeom>
            <a:avLst/>
            <a:gdLst/>
            <a:ahLst/>
            <a:cxnLst/>
            <a:rect r="r" b="b" t="t" l="l"/>
            <a:pathLst>
              <a:path h="3701998" w="8342531">
                <a:moveTo>
                  <a:pt x="0" y="0"/>
                </a:moveTo>
                <a:lnTo>
                  <a:pt x="8342530" y="0"/>
                </a:lnTo>
                <a:lnTo>
                  <a:pt x="8342530" y="3701998"/>
                </a:lnTo>
                <a:lnTo>
                  <a:pt x="0" y="370199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529903" y="457200"/>
            <a:ext cx="11228195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EDA HIGHLIGHTS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543952" y="330042"/>
            <a:ext cx="5035129" cy="4895507"/>
          </a:xfrm>
          <a:custGeom>
            <a:avLst/>
            <a:gdLst/>
            <a:ahLst/>
            <a:cxnLst/>
            <a:rect r="r" b="b" t="t" l="l"/>
            <a:pathLst>
              <a:path h="4895507" w="5035129">
                <a:moveTo>
                  <a:pt x="0" y="0"/>
                </a:moveTo>
                <a:lnTo>
                  <a:pt x="5035128" y="0"/>
                </a:lnTo>
                <a:lnTo>
                  <a:pt x="5035128" y="4895507"/>
                </a:lnTo>
                <a:lnTo>
                  <a:pt x="0" y="48955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874355" y="247993"/>
            <a:ext cx="5555685" cy="4977555"/>
          </a:xfrm>
          <a:custGeom>
            <a:avLst/>
            <a:gdLst/>
            <a:ahLst/>
            <a:cxnLst/>
            <a:rect r="r" b="b" t="t" l="l"/>
            <a:pathLst>
              <a:path h="4977555" w="5555685">
                <a:moveTo>
                  <a:pt x="0" y="0"/>
                </a:moveTo>
                <a:lnTo>
                  <a:pt x="5555685" y="0"/>
                </a:lnTo>
                <a:lnTo>
                  <a:pt x="5555685" y="4977556"/>
                </a:lnTo>
                <a:lnTo>
                  <a:pt x="0" y="49775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213331" y="5143500"/>
            <a:ext cx="5501974" cy="5444146"/>
          </a:xfrm>
          <a:custGeom>
            <a:avLst/>
            <a:gdLst/>
            <a:ahLst/>
            <a:cxnLst/>
            <a:rect r="r" b="b" t="t" l="l"/>
            <a:pathLst>
              <a:path h="5444146" w="5501974">
                <a:moveTo>
                  <a:pt x="0" y="0"/>
                </a:moveTo>
                <a:lnTo>
                  <a:pt x="5501974" y="0"/>
                </a:lnTo>
                <a:lnTo>
                  <a:pt x="5501974" y="5444146"/>
                </a:lnTo>
                <a:lnTo>
                  <a:pt x="0" y="54441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715305" y="5418080"/>
            <a:ext cx="9118587" cy="4280328"/>
          </a:xfrm>
          <a:custGeom>
            <a:avLst/>
            <a:gdLst/>
            <a:ahLst/>
            <a:cxnLst/>
            <a:rect r="r" b="b" t="t" l="l"/>
            <a:pathLst>
              <a:path h="4280328" w="9118587">
                <a:moveTo>
                  <a:pt x="0" y="0"/>
                </a:moveTo>
                <a:lnTo>
                  <a:pt x="9118587" y="0"/>
                </a:lnTo>
                <a:lnTo>
                  <a:pt x="9118587" y="4280329"/>
                </a:lnTo>
                <a:lnTo>
                  <a:pt x="0" y="428032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8130" t="0" r="-813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58657" y="1607656"/>
            <a:ext cx="8301224" cy="4700568"/>
          </a:xfrm>
          <a:custGeom>
            <a:avLst/>
            <a:gdLst/>
            <a:ahLst/>
            <a:cxnLst/>
            <a:rect r="r" b="b" t="t" l="l"/>
            <a:pathLst>
              <a:path h="4700568" w="8301224">
                <a:moveTo>
                  <a:pt x="0" y="0"/>
                </a:moveTo>
                <a:lnTo>
                  <a:pt x="8301224" y="0"/>
                </a:lnTo>
                <a:lnTo>
                  <a:pt x="8301224" y="4700568"/>
                </a:lnTo>
                <a:lnTo>
                  <a:pt x="0" y="47005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609259" y="6474561"/>
            <a:ext cx="3165443" cy="3641796"/>
          </a:xfrm>
          <a:custGeom>
            <a:avLst/>
            <a:gdLst/>
            <a:ahLst/>
            <a:cxnLst/>
            <a:rect r="r" b="b" t="t" l="l"/>
            <a:pathLst>
              <a:path h="3641796" w="3165443">
                <a:moveTo>
                  <a:pt x="0" y="0"/>
                </a:moveTo>
                <a:lnTo>
                  <a:pt x="3165443" y="0"/>
                </a:lnTo>
                <a:lnTo>
                  <a:pt x="3165443" y="3641797"/>
                </a:lnTo>
                <a:lnTo>
                  <a:pt x="0" y="364179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273102" y="2006176"/>
            <a:ext cx="4456241" cy="3903529"/>
          </a:xfrm>
          <a:custGeom>
            <a:avLst/>
            <a:gdLst/>
            <a:ahLst/>
            <a:cxnLst/>
            <a:rect r="r" b="b" t="t" l="l"/>
            <a:pathLst>
              <a:path h="3903529" w="4456241">
                <a:moveTo>
                  <a:pt x="0" y="0"/>
                </a:moveTo>
                <a:lnTo>
                  <a:pt x="4456241" y="0"/>
                </a:lnTo>
                <a:lnTo>
                  <a:pt x="4456241" y="3903529"/>
                </a:lnTo>
                <a:lnTo>
                  <a:pt x="0" y="39035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031877" y="6474561"/>
            <a:ext cx="5356718" cy="3812439"/>
          </a:xfrm>
          <a:custGeom>
            <a:avLst/>
            <a:gdLst/>
            <a:ahLst/>
            <a:cxnLst/>
            <a:rect r="r" b="b" t="t" l="l"/>
            <a:pathLst>
              <a:path h="3812439" w="5356718">
                <a:moveTo>
                  <a:pt x="0" y="0"/>
                </a:moveTo>
                <a:lnTo>
                  <a:pt x="5356718" y="0"/>
                </a:lnTo>
                <a:lnTo>
                  <a:pt x="5356718" y="3812439"/>
                </a:lnTo>
                <a:lnTo>
                  <a:pt x="0" y="38124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417780" y="288093"/>
            <a:ext cx="11228195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PERFORMANCE HIGHLIGHTS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09221" y="1645864"/>
            <a:ext cx="5047401" cy="3497636"/>
          </a:xfrm>
          <a:custGeom>
            <a:avLst/>
            <a:gdLst/>
            <a:ahLst/>
            <a:cxnLst/>
            <a:rect r="r" b="b" t="t" l="l"/>
            <a:pathLst>
              <a:path h="3497636" w="5047401">
                <a:moveTo>
                  <a:pt x="0" y="0"/>
                </a:moveTo>
                <a:lnTo>
                  <a:pt x="5047401" y="0"/>
                </a:lnTo>
                <a:lnTo>
                  <a:pt x="5047401" y="3497636"/>
                </a:lnTo>
                <a:lnTo>
                  <a:pt x="0" y="34976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692184" y="1316793"/>
            <a:ext cx="8204675" cy="4410013"/>
          </a:xfrm>
          <a:custGeom>
            <a:avLst/>
            <a:gdLst/>
            <a:ahLst/>
            <a:cxnLst/>
            <a:rect r="r" b="b" t="t" l="l"/>
            <a:pathLst>
              <a:path h="4410013" w="8204675">
                <a:moveTo>
                  <a:pt x="0" y="0"/>
                </a:moveTo>
                <a:lnTo>
                  <a:pt x="8204676" y="0"/>
                </a:lnTo>
                <a:lnTo>
                  <a:pt x="8204676" y="4410013"/>
                </a:lnTo>
                <a:lnTo>
                  <a:pt x="0" y="44100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073653" y="5143500"/>
            <a:ext cx="4103536" cy="4431129"/>
          </a:xfrm>
          <a:custGeom>
            <a:avLst/>
            <a:gdLst/>
            <a:ahLst/>
            <a:cxnLst/>
            <a:rect r="r" b="b" t="t" l="l"/>
            <a:pathLst>
              <a:path h="4431129" w="4103536">
                <a:moveTo>
                  <a:pt x="0" y="0"/>
                </a:moveTo>
                <a:lnTo>
                  <a:pt x="4103536" y="0"/>
                </a:lnTo>
                <a:lnTo>
                  <a:pt x="4103536" y="4431129"/>
                </a:lnTo>
                <a:lnTo>
                  <a:pt x="0" y="44311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692184" y="5897520"/>
            <a:ext cx="8055856" cy="4027928"/>
          </a:xfrm>
          <a:custGeom>
            <a:avLst/>
            <a:gdLst/>
            <a:ahLst/>
            <a:cxnLst/>
            <a:rect r="r" b="b" t="t" l="l"/>
            <a:pathLst>
              <a:path h="4027928" w="8055856">
                <a:moveTo>
                  <a:pt x="0" y="0"/>
                </a:moveTo>
                <a:lnTo>
                  <a:pt x="8055857" y="0"/>
                </a:lnTo>
                <a:lnTo>
                  <a:pt x="8055857" y="4027928"/>
                </a:lnTo>
                <a:lnTo>
                  <a:pt x="0" y="402792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529903" y="288093"/>
            <a:ext cx="11228195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RISK ANALYSIS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80738" y="1631982"/>
            <a:ext cx="7914403" cy="4590354"/>
          </a:xfrm>
          <a:custGeom>
            <a:avLst/>
            <a:gdLst/>
            <a:ahLst/>
            <a:cxnLst/>
            <a:rect r="r" b="b" t="t" l="l"/>
            <a:pathLst>
              <a:path h="4590354" w="7914403">
                <a:moveTo>
                  <a:pt x="0" y="0"/>
                </a:moveTo>
                <a:lnTo>
                  <a:pt x="7914403" y="0"/>
                </a:lnTo>
                <a:lnTo>
                  <a:pt x="7914403" y="4590353"/>
                </a:lnTo>
                <a:lnTo>
                  <a:pt x="0" y="45903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695141" y="4795666"/>
            <a:ext cx="8338419" cy="4846706"/>
          </a:xfrm>
          <a:custGeom>
            <a:avLst/>
            <a:gdLst/>
            <a:ahLst/>
            <a:cxnLst/>
            <a:rect r="r" b="b" t="t" l="l"/>
            <a:pathLst>
              <a:path h="4846706" w="8338419">
                <a:moveTo>
                  <a:pt x="0" y="0"/>
                </a:moveTo>
                <a:lnTo>
                  <a:pt x="8338419" y="0"/>
                </a:lnTo>
                <a:lnTo>
                  <a:pt x="8338419" y="4846706"/>
                </a:lnTo>
                <a:lnTo>
                  <a:pt x="0" y="48467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642026" y="554038"/>
            <a:ext cx="11228195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DASHBOARDS FROM POWERBI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78594" y="1408112"/>
            <a:ext cx="8237385" cy="4746793"/>
          </a:xfrm>
          <a:custGeom>
            <a:avLst/>
            <a:gdLst/>
            <a:ahLst/>
            <a:cxnLst/>
            <a:rect r="r" b="b" t="t" l="l"/>
            <a:pathLst>
              <a:path h="4746793" w="8237385">
                <a:moveTo>
                  <a:pt x="0" y="0"/>
                </a:moveTo>
                <a:lnTo>
                  <a:pt x="8237385" y="0"/>
                </a:lnTo>
                <a:lnTo>
                  <a:pt x="8237385" y="4746793"/>
                </a:lnTo>
                <a:lnTo>
                  <a:pt x="0" y="47467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815979" y="5143500"/>
            <a:ext cx="8159337" cy="4732416"/>
          </a:xfrm>
          <a:custGeom>
            <a:avLst/>
            <a:gdLst/>
            <a:ahLst/>
            <a:cxnLst/>
            <a:rect r="r" b="b" t="t" l="l"/>
            <a:pathLst>
              <a:path h="4732416" w="8159337">
                <a:moveTo>
                  <a:pt x="0" y="0"/>
                </a:moveTo>
                <a:lnTo>
                  <a:pt x="8159337" y="0"/>
                </a:lnTo>
                <a:lnTo>
                  <a:pt x="8159337" y="4732416"/>
                </a:lnTo>
                <a:lnTo>
                  <a:pt x="0" y="47324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642026" y="554038"/>
            <a:ext cx="11228195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DASHBOARDS FROM POWERBI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642026" y="554038"/>
            <a:ext cx="11228195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KEY FINDINGS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83695" y="2261147"/>
            <a:ext cx="11562279" cy="478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• SIP INFLOWS INCREASED STEADILY.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• FOLIO COUNT DOUBLED.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• RISK-ADJUSTED RETURNS PROVIDED BETTER INSIGHTS.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• HIGH CONCENTRATION FUNDS SHOWED GREATER RISK.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• RECOMMENDATION ENGINE SUCCESSFULLY RANKED FUNDS.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84626" y="-74060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4645974" y="7042697"/>
            <a:ext cx="5226651" cy="4114800"/>
          </a:xfrm>
          <a:custGeom>
            <a:avLst/>
            <a:gdLst/>
            <a:ahLst/>
            <a:cxnLst/>
            <a:rect r="r" b="b" t="t" l="l"/>
            <a:pathLst>
              <a:path h="4114800" w="5226651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729343" y="-74060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-501257" y="7042697"/>
            <a:ext cx="3059915" cy="4114800"/>
          </a:xfrm>
          <a:custGeom>
            <a:avLst/>
            <a:gdLst/>
            <a:ahLst/>
            <a:cxnLst/>
            <a:rect r="r" b="b" t="t" l="l"/>
            <a:pathLst>
              <a:path h="4114800" w="3059915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46488" y="3962424"/>
            <a:ext cx="14595024" cy="2124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86"/>
              </a:lnSpc>
            </a:pPr>
            <a:r>
              <a:rPr lang="en-US" sz="12418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DAHML9uiM9k</dc:identifier>
  <dcterms:modified xsi:type="dcterms:W3CDTF">2011-08-01T06:04:30Z</dcterms:modified>
  <cp:revision>1</cp:revision>
  <dc:title>Bluestock Mutual Fund Analytics Capstone</dc:title>
</cp:coreProperties>
</file>